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1430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0000"/>
            <a:ext cx="11430000" cy="127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28600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Calibri"/>
              </a:rPr>
              <a:t>Arbitr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5560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DEEBF7"/>
                </a:solidFill>
                <a:latin typeface="Calibri"/>
              </a:rPr>
              <a:t>AI-платформа автоматизации финансового управляющего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10515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FFFFF"/>
                </a:solidFill>
                <a:latin typeface="Calibri"/>
              </a:rPr>
              <a:t>в делах о банкротстве физических лиц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461000"/>
            <a:ext cx="10515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EEBF7"/>
                </a:solidFill>
                <a:latin typeface="Calibri"/>
              </a:rPr>
              <a:t>Дипломная работа  ·  А32-37431/2025  ·  «Arbitr AI»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0"/>
            <a:ext cx="10515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6A6A6"/>
                </a:solidFill>
                <a:latin typeface="Calibri"/>
              </a:rPr>
              <a:t>16.09.2026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Проблема финансового управляющего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Ручная рутина — 60% времени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Запросы в 34 органа, 338 документов, реестры, отчёты — вручную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Риск пропуска сроков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Ответственность по ст. 14.13 КоАП, штрафы до 300 000 ₽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Разрозненные источники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ФНС, Росреестр, ФССП, ЗАГС, банки — каждый со своим форматом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Ошибки в документах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Ручной ввод → опечатки, неполнота, отказ органов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Решение — Arbitr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AI-ядро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Генерация 31 типа юридических документов на основе реального кейса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RAG-поиск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338 RAG-чанков по делу А32-37431/2025 — мгновенный доступ к практике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Автоматизация запросов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34 интеграции: ФНС, Росреестр, ФССП, Почта России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Контроль сроков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Дашборд, напоминания, аналитика — ни одного пропущенного дедлайна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Реальный кейс: А32-37431/2025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0" y="1524000"/>
          <a:ext cx="1033272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355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Параметр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Значение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Должник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Макурин В.В., 18.02.1955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Суд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АС Краснодарского края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Процедура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Реализация имущества гражданина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Документов в деле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34 PDF → 338 RAG-чанков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Особенность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Смерть должника, параграф 4 гл. X, наследники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556000"/>
            <a:ext cx="36576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2E74B5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318000"/>
            <a:ext cx="96012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AI-ядро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4191000"/>
            <a:ext cx="2743200" cy="762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Архитектура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778000"/>
            <a:ext cx="3291840" cy="12801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59000"/>
            <a:ext cx="27432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Frontend
React + 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1778000"/>
            <a:ext cx="3291840" cy="12801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9000" y="2159000"/>
            <a:ext cx="27432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Backend
FastAPI + SQLAlchemy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68000" y="1778000"/>
            <a:ext cx="3291840" cy="1463040"/>
          </a:xfrm>
          <a:prstGeom prst="rect">
            <a:avLst/>
          </a:prstGeom>
          <a:solidFill>
            <a:srgbClr val="538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0" y="2032000"/>
            <a:ext cx="329184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AI-ядро
LLM +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318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Calibri"/>
              </a:rPr>
              <a:t>▸ Python 3.12 + FastAPI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595959"/>
                </a:solidFill>
                <a:latin typeface="Calibri"/>
              </a:rPr>
              <a:t>30+ эндпоинтов, JWT, роли</a:t>
            </a:r>
          </a:p>
          <a:p>
            <a:pPr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Calibri"/>
              </a:rPr>
              <a:t>▸ PostgreSQL + Redis + MinIO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595959"/>
                </a:solidFill>
                <a:latin typeface="Calibri"/>
              </a:rPr>
              <a:t>Async SQLAlchemy, Alembic миграции</a:t>
            </a:r>
          </a:p>
          <a:p>
            <a:pPr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Calibri"/>
              </a:rPr>
              <a:t>▸ RAG + 31 шаблон документов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595959"/>
                </a:solidFill>
                <a:latin typeface="Calibri"/>
              </a:rPr>
              <a:t>Знания из реального кейса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Генерация документов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0" y="1524000"/>
          <a:ext cx="1033272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355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Тип документа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Описание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Запрос в ФНС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Справки 2-НДФЛ, счета, участие в юрлицах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Запрос в Росреестр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Выписки ЕГРН, объекты недвижимости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Уведомление кредиторам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Реестр требований кредиторов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Запрос супругу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Совместное имущество, счета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Ходатайства в суд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Завершение процедуры, отчёты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5080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Calibri"/>
              </a:rPr>
              <a:t>▸ 31 тип документа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595959"/>
                </a:solidFill>
                <a:latin typeface="Calibri"/>
              </a:rPr>
              <a:t>На основе реальных шаблонов кейса</a:t>
            </a:r>
          </a:p>
          <a:p>
            <a:pPr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Calibri"/>
              </a:rPr>
              <a:t>▸ AI + шаблоны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595959"/>
                </a:solidFill>
                <a:latin typeface="Calibri"/>
              </a:rPr>
              <a:t>Гибрид: RAG-контекст + юридические шаблоны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RAG — база знаний из кейса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0" y="1524000"/>
          <a:ext cx="1033272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355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Метрика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Значение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PDF-документов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RAG-чанков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338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Типов документов для генерации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Обучающих примеров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482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Calibri"/>
              </a:rPr>
              <a:t>▸ TF-IDF поиск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595959"/>
                </a:solidFill>
                <a:latin typeface="Calibri"/>
              </a:rPr>
              <a:t>Ранжирование по релевантности, 2632 термина</a:t>
            </a:r>
          </a:p>
          <a:p>
            <a:pPr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Calibri"/>
              </a:rPr>
              <a:t>▸ Контекст для LLM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595959"/>
                </a:solidFill>
                <a:latin typeface="Calibri"/>
              </a:rPr>
              <a:t>Финансовый анализ → генерация запросов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556000"/>
            <a:ext cx="36576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2E74B5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318000"/>
            <a:ext cx="96012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Harness CI/CD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4191000"/>
            <a:ext cx="2743200" cy="762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Harness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build-and-test-backend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15 пайплайнов: build, test, trivy, docker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deploy-stage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3 окружения: dev / stage / prod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deploy-prod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Blue/Green + канареечные флаги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Feature Flags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8 флагов: Росреестр, AI-анализ, почта, нотариат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Secrets Management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ФНС, Росреестр, ФССП, Почта России — защищённо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Окружения и флаги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0" y="1524000"/>
          <a:ext cx="10332720" cy="142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355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Окружение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Назначение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Флаги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Разработка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FF: dev environment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Тестирование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FF: staging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Продакшен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FF: production + approval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4445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Calibri"/>
              </a:rPr>
              <a:t>▸ 8 feature flags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595959"/>
                </a:solidFill>
                <a:latin typeface="Calibri"/>
              </a:rPr>
              <a:t>поэтапное включение функций безопасности</a:t>
            </a:r>
          </a:p>
          <a:p>
            <a:pPr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Calibri"/>
              </a:rPr>
              <a:t>▸ Автооткат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595959"/>
                </a:solidFill>
                <a:latin typeface="Calibri"/>
              </a:rPr>
              <a:t>при провале проверок — rollback в Harness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556000"/>
            <a:ext cx="36576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2E74B5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318000"/>
            <a:ext cx="96012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Продукт и бизнес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4191000"/>
            <a:ext cx="2743200" cy="762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Backend API — 19 эндпоинтов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0" y="1524000"/>
          <a:ext cx="1033272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355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Модуль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Эндпоинты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/register, /login, /me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Cases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CRUD дел, должников, кредиторов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Запросы, статусы, интеграции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AI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/generate, /search, /stats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4572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Calibri"/>
              </a:rPr>
              <a:t>▸ 14 тестов — зелёные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595959"/>
                </a:solidFill>
                <a:latin typeface="Calibri"/>
              </a:rPr>
              <a:t>API, AI, модели</a:t>
            </a:r>
          </a:p>
          <a:p>
            <a:pPr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Calibri"/>
              </a:rPr>
              <a:t>▸ JWT + bcrypt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595959"/>
                </a:solidFill>
                <a:latin typeface="Calibri"/>
              </a:rPr>
              <a:t>безопасная аутентификация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Frontend — кабинет управляющего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React 18 + TypeScript + Vite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Fast dev-сервер, HMR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Ant Design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Дашборд, карточка дела, таблицы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TanStack Query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Кэширование, фетчинг API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AI-панель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Генерация документов в один клик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Тестирование — 14 тестов ✅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0" y="1524000"/>
          <a:ext cx="10332720" cy="142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355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Тест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Покрытие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API (cases, auth, requests)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✅ 5/5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AI (генерация, RAG, типы)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✅ 9/9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CRUD-флоу (case → debtor)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✅ 1/1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3810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Calibri"/>
              </a:rPr>
              <a:t>▸ pytest + httpx + ASGI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595959"/>
                </a:solidFill>
                <a:latin typeface="Calibri"/>
              </a:rPr>
              <a:t>быстрый цикл, без внешней БД</a:t>
            </a:r>
          </a:p>
          <a:p>
            <a:pPr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Calibri"/>
              </a:rPr>
              <a:t>▸ Покрытие кода</a:t>
            </a:r>
          </a:p>
          <a:p>
            <a:pPr>
              <a:lnSpc>
                <a:spcPct val="100000"/>
              </a:lnSpc>
            </a:pPr>
            <a:r>
              <a:rPr sz="1500">
                <a:solidFill>
                  <a:srgbClr val="595959"/>
                </a:solidFill>
                <a:latin typeface="Calibri"/>
              </a:rPr>
              <a:t>высокое, отчёт coverage.xml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Бизнес-модель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Подписка B2B SaaS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Базовый 7 990 ₽ / Про 14 990 ₽ / Корп от 29 990 ₽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Выручка Year 2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50,4 млн ₽ ARR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Выручка Year 3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540 млн ₽ ARR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Точка безубыточности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Q4 Year 1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Модель в Excel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Бизнес-план Arbitr AI.xlsx — 11 листов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Команда и роли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0" y="1524000"/>
          <a:ext cx="1033272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355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Роль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Кол-во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Архитектор / Team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Backend-разработчик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Frontend-разработчик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AI/ML-инженер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DevOps (Harness)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Дорожная карта — 16 спринтов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Спринты 1-2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Карточка дела, аутентификация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Спринты 3-6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Запросы в ФНС, Росреестр, ФССП, Почту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Спринты 7-10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AI-генерация документов + RAG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Спринты 11-14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Отчёты, аналитика, особые случаи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Спринты 15-16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Тестирование, пилот, релиз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10515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libri"/>
              </a:rPr>
              <a:t>Итоги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1430000" cy="381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Готовый MVP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backend + frontend + AI + Harness, 14/14 тестов ✅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Реальный кейс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дело А32-37431/2025: 34 PDF → RAG-база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AI-генерация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31 тип юридических документов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CI/CD в Harness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15 пайплайнов, 3 окружения, feature flags</a:t>
            </a:r>
          </a:p>
          <a:p>
            <a:pPr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Calibri"/>
              </a:rPr>
              <a:t>▸ Бизнес-план</a:t>
            </a:r>
          </a:p>
          <a:p>
            <a:pPr>
              <a:lnSpc>
                <a:spcPct val="100000"/>
              </a:lnSpc>
            </a:pPr>
            <a:r>
              <a:rPr sz="1600">
                <a:solidFill>
                  <a:srgbClr val="595959"/>
                </a:solidFill>
                <a:latin typeface="Calibri"/>
              </a:rPr>
              <a:t>финансовая модель, команда, дорожная карта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3302000"/>
            <a:ext cx="96012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0000" y="4572000"/>
            <a:ext cx="96012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DEEBF7"/>
                </a:solidFill>
                <a:latin typeface="Calibri"/>
              </a:rPr>
              <a:t>Arbitr AI — AI-платформа финансового управляющего</a:t>
            </a:r>
          </a:p>
        </p:txBody>
      </p:sp>
      <p:sp>
        <p:nvSpPr>
          <p:cNvPr id="4" name="Rectangle 3"/>
          <p:cNvSpPr/>
          <p:nvPr/>
        </p:nvSpPr>
        <p:spPr>
          <a:xfrm>
            <a:off x="1270000" y="5461000"/>
            <a:ext cx="2743200" cy="762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